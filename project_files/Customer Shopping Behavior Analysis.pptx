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1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i="1" dirty="0">
                <a:solidFill>
                  <a:schemeClr val="tx1"/>
                </a:solidFill>
              </a:rPr>
              <a:t>Revenue ($) by Gender</a:t>
            </a:r>
          </a:p>
        </c:rich>
      </c:tx>
      <c:layout>
        <c:manualLayout>
          <c:xMode val="edge"/>
          <c:yMode val="edge"/>
          <c:x val="0.2962919645238718"/>
          <c:y val="4.87295557056238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157890</c:v>
                </c:pt>
                <c:pt idx="1">
                  <c:v>75179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1-455E-926A-E5EB1648C0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axId val="469751568"/>
        <c:axId val="469750512"/>
      </c:barChart>
      <c:catAx>
        <c:axId val="4697515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750512"/>
        <c:crosses val="autoZero"/>
        <c:auto val="1"/>
        <c:lblAlgn val="ctr"/>
        <c:lblOffset val="100"/>
        <c:noMultiLvlLbl val="0"/>
      </c:catAx>
      <c:valAx>
        <c:axId val="469750512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69751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i="1" dirty="0"/>
              <a:t>Subscribed vs. Non-Subscribed Average Spend ($)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Spend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1C9-47DD-A9E4-A3B1CD536E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Subscribed</c:v>
                </c:pt>
                <c:pt idx="1">
                  <c:v>Non-Subscribed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59.49</c:v>
                </c:pt>
                <c:pt idx="1">
                  <c:v>59.87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C9-47DD-A9E4-A3B1CD536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-27"/>
        <c:axId val="472880568"/>
        <c:axId val="472882328"/>
      </c:barChart>
      <c:catAx>
        <c:axId val="472880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882328"/>
        <c:crosses val="autoZero"/>
        <c:auto val="1"/>
        <c:lblAlgn val="ctr"/>
        <c:lblOffset val="100"/>
        <c:noMultiLvlLbl val="0"/>
      </c:catAx>
      <c:valAx>
        <c:axId val="472882328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72880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i="1" dirty="0"/>
              <a:t>Subscribed vs. Non-Subscribed Cumulative Spend ($)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Spend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682-4675-A71E-DCAD491269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Subscribed</c:v>
                </c:pt>
                <c:pt idx="1">
                  <c:v>Non-Subscribed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62645</c:v>
                </c:pt>
                <c:pt idx="1">
                  <c:v>170436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E-47F8-98DD-9ADC1BA31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-27"/>
        <c:axId val="472880568"/>
        <c:axId val="472882328"/>
      </c:barChart>
      <c:catAx>
        <c:axId val="472880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882328"/>
        <c:crosses val="autoZero"/>
        <c:auto val="1"/>
        <c:lblAlgn val="ctr"/>
        <c:lblOffset val="100"/>
        <c:noMultiLvlLbl val="0"/>
      </c:catAx>
      <c:valAx>
        <c:axId val="472882328"/>
        <c:scaling>
          <c:orientation val="minMax"/>
          <c:min val="0"/>
        </c:scaling>
        <c:delete val="1"/>
        <c:axPos val="l"/>
        <c:numFmt formatCode="#,##0" sourceLinked="1"/>
        <c:majorTickMark val="none"/>
        <c:minorTickMark val="none"/>
        <c:tickLblPos val="nextTo"/>
        <c:crossAx val="472880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i="1" dirty="0"/>
              <a:t>Subscribed</a:t>
            </a:r>
            <a:r>
              <a:rPr lang="en-US" i="1" baseline="0" dirty="0"/>
              <a:t> vs. Non-Subscribed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95C-4E3E-9FF4-6062A2F5B4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5C-4E3E-9FF4-6062A2F5B4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Subscribed</c:v>
                </c:pt>
                <c:pt idx="1">
                  <c:v>Non-Subscribed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0.27</c:v>
                </c:pt>
                <c:pt idx="1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5C-4E3E-9FF4-6062A2F5B4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537167957961555"/>
          <c:y val="0.91130415149719191"/>
          <c:w val="0.69379652387896995"/>
          <c:h val="8.86958485028081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i="1" dirty="0"/>
              <a:t>Subscribed vs. Non-Subscribed Customers with 5+ previous</a:t>
            </a:r>
            <a:r>
              <a:rPr lang="en-US" i="1" baseline="0" dirty="0"/>
              <a:t> purchases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9B9-40FE-9517-A773D6ED2B4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Subscribed</c:v>
                </c:pt>
                <c:pt idx="1">
                  <c:v>Non-Subscribed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958</c:v>
                </c:pt>
                <c:pt idx="1">
                  <c:v>2518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B9-40FE-9517-A773D6ED2B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axId val="529510360"/>
        <c:axId val="529512472"/>
      </c:barChart>
      <c:catAx>
        <c:axId val="529510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9512472"/>
        <c:crosses val="autoZero"/>
        <c:auto val="1"/>
        <c:lblAlgn val="ctr"/>
        <c:lblOffset val="100"/>
        <c:noMultiLvlLbl val="0"/>
      </c:catAx>
      <c:valAx>
        <c:axId val="5295124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29510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4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420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52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813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10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3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87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38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61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65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394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93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98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72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75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125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977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69581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08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764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01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514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449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8411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33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543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223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2740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484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376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5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03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1733-33AA-BF9D-FECA-2FDAFC0C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478" y="2053098"/>
            <a:ext cx="10993549" cy="147501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2"/>
                </a:solidFill>
              </a:rPr>
              <a:t>Customer Shopping Behavior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54BED-A6EE-5FC6-D077-B61C6B4B1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114" y="3429000"/>
            <a:ext cx="10993546" cy="590321"/>
          </a:xfrm>
        </p:spPr>
        <p:txBody>
          <a:bodyPr/>
          <a:lstStyle/>
          <a:p>
            <a:r>
              <a:rPr lang="en-US" cap="none" dirty="0">
                <a:solidFill>
                  <a:schemeClr val="accent2">
                    <a:lumMod val="75000"/>
                  </a:schemeClr>
                </a:solidFill>
              </a:rPr>
              <a:t>Gathering Insights On Shopping Behavior From 3900 Customers Across Multiple Product Categories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4A6B69C-29ED-17EC-68CD-7060EC6D6014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123472" y="2790604"/>
            <a:ext cx="5342741" cy="53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4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4380-8830-84B6-D578-CF4DFE20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+mn-lt"/>
              </a:rPr>
              <a:t>Overview.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91B12-3FC1-21B8-505E-99BFAD7B8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236927" cy="367830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Scale: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tx1"/>
                </a:solidFill>
              </a:rPr>
              <a:t>3,900 purchases analyzed across multiple product categories.</a:t>
            </a:r>
            <a:endParaRPr lang="en-US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Objective: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tx1"/>
                </a:solidFill>
              </a:rPr>
              <a:t>Uncover insights on customer spending patterns, segments, preferences, and subscription behavior to guide strategic decision making.</a:t>
            </a:r>
            <a:endParaRPr lang="en-US" i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3DCCA-3A73-01CB-24A5-2AC7021A7C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18237" y="499601"/>
            <a:ext cx="4392571" cy="58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8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C70AD6-DA2E-5399-3720-1C95712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cap="none" dirty="0">
                <a:latin typeface="+mn-lt"/>
              </a:rPr>
              <a:t>Male customers generate more revenue. There are no female subscribers.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7C3CC138-0BD8-A721-3385-F85E3540FF1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31304510"/>
              </p:ext>
            </p:extLst>
          </p:nvPr>
        </p:nvGraphicFramePr>
        <p:xfrm>
          <a:off x="581193" y="1882432"/>
          <a:ext cx="5514807" cy="4430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F835137-4BF0-2FCD-C648-AFC292EC18B9}"/>
              </a:ext>
            </a:extLst>
          </p:cNvPr>
          <p:cNvSpPr txBox="1"/>
          <p:nvPr/>
        </p:nvSpPr>
        <p:spPr>
          <a:xfrm>
            <a:off x="6466041" y="3437723"/>
            <a:ext cx="54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Male customers generate approximately double the revenue of female customers.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979A8A-AA19-21E2-E001-3601C6B4321D}"/>
              </a:ext>
            </a:extLst>
          </p:cNvPr>
          <p:cNvSpPr txBox="1"/>
          <p:nvPr/>
        </p:nvSpPr>
        <p:spPr>
          <a:xfrm>
            <a:off x="6466039" y="4335799"/>
            <a:ext cx="540000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</a:t>
            </a:r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055AA8-AA7E-EC7F-FCFC-50DFE763314D}"/>
              </a:ext>
            </a:extLst>
          </p:cNvPr>
          <p:cNvSpPr txBox="1"/>
          <p:nvPr/>
        </p:nvSpPr>
        <p:spPr>
          <a:xfrm>
            <a:off x="6466040" y="585518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Number of female customers who have a subscription.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39D7EF-343E-944E-5145-1499996CD640}"/>
              </a:ext>
            </a:extLst>
          </p:cNvPr>
          <p:cNvSpPr txBox="1"/>
          <p:nvPr/>
        </p:nvSpPr>
        <p:spPr>
          <a:xfrm>
            <a:off x="6466040" y="2109019"/>
            <a:ext cx="5400000" cy="17204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8121185E-A608-E444-760D-F96E7DF674AF}"/>
              </a:ext>
            </a:extLst>
          </p:cNvPr>
          <p:cNvSpPr/>
          <p:nvPr/>
        </p:nvSpPr>
        <p:spPr>
          <a:xfrm>
            <a:off x="9366294" y="2569907"/>
            <a:ext cx="1075439" cy="898076"/>
          </a:xfrm>
          <a:prstGeom prst="mathMultiply">
            <a:avLst>
              <a:gd name="adj1" fmla="val 1536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69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E4AF-918A-4F59-BDD5-D92DED52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>
                <a:latin typeface="+mn-lt"/>
              </a:rPr>
              <a:t>Product offerings have relatively low ratings.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D8F63-DD5E-26AB-7336-D10581351AB2}"/>
              </a:ext>
            </a:extLst>
          </p:cNvPr>
          <p:cNvSpPr txBox="1"/>
          <p:nvPr/>
        </p:nvSpPr>
        <p:spPr>
          <a:xfrm>
            <a:off x="581192" y="2448232"/>
            <a:ext cx="5682225" cy="18620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5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3.75/5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4571C-87CD-8F90-095F-A1E322E63775}"/>
              </a:ext>
            </a:extLst>
          </p:cNvPr>
          <p:cNvSpPr txBox="1"/>
          <p:nvPr/>
        </p:nvSpPr>
        <p:spPr>
          <a:xfrm>
            <a:off x="374720" y="3978134"/>
            <a:ext cx="6026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Average Product Rating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C68EA-7506-4039-D3D5-35711AD5497B}"/>
              </a:ext>
            </a:extLst>
          </p:cNvPr>
          <p:cNvSpPr txBox="1"/>
          <p:nvPr/>
        </p:nvSpPr>
        <p:spPr>
          <a:xfrm>
            <a:off x="6263417" y="2147204"/>
            <a:ext cx="5347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Top 5 Rated Items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44C3A2-6BB6-114F-804F-9E4436579281}"/>
              </a:ext>
            </a:extLst>
          </p:cNvPr>
          <p:cNvGrpSpPr/>
          <p:nvPr/>
        </p:nvGrpSpPr>
        <p:grpSpPr>
          <a:xfrm>
            <a:off x="1751364" y="4391389"/>
            <a:ext cx="3341879" cy="649134"/>
            <a:chOff x="1259884" y="4347465"/>
            <a:chExt cx="4668701" cy="81116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237E806-EF8B-B59B-354B-BBE2718C0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884" y="4347467"/>
              <a:ext cx="811161" cy="81116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6E1B71-C939-0616-35CF-8F6073328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4269" y="4347467"/>
              <a:ext cx="811161" cy="81116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30BD38B-128E-671B-0AB1-2542540C8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8654" y="4347466"/>
              <a:ext cx="811161" cy="81116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AD1EADE-4548-1F38-9B44-8B168DC14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53039" y="4347466"/>
              <a:ext cx="811161" cy="81116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8C55457-297F-92F9-698B-3A4E2635E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7424" y="4347465"/>
              <a:ext cx="811161" cy="81116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11A615-BCCE-9E77-6D47-538DCD99A452}"/>
              </a:ext>
            </a:extLst>
          </p:cNvPr>
          <p:cNvGrpSpPr/>
          <p:nvPr/>
        </p:nvGrpSpPr>
        <p:grpSpPr>
          <a:xfrm>
            <a:off x="6173417" y="2693520"/>
            <a:ext cx="1620000" cy="1803589"/>
            <a:chOff x="6173417" y="3032728"/>
            <a:chExt cx="1620000" cy="180358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D31F35D-C1E2-1A00-820B-8F4B09797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3417" y="3032728"/>
              <a:ext cx="1440000" cy="144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54A81A-4A30-EF0F-C44E-22017C2DE001}"/>
                </a:ext>
              </a:extLst>
            </p:cNvPr>
            <p:cNvSpPr txBox="1"/>
            <p:nvPr/>
          </p:nvSpPr>
          <p:spPr>
            <a:xfrm>
              <a:off x="6173417" y="4466985"/>
              <a:ext cx="162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Gloves (3.86)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F7B072-125A-2817-8529-406B4CAF3C07}"/>
              </a:ext>
            </a:extLst>
          </p:cNvPr>
          <p:cNvGrpSpPr/>
          <p:nvPr/>
        </p:nvGrpSpPr>
        <p:grpSpPr>
          <a:xfrm>
            <a:off x="8128249" y="2693520"/>
            <a:ext cx="1620000" cy="1803589"/>
            <a:chOff x="8128249" y="3032728"/>
            <a:chExt cx="1620000" cy="180358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98CB2EB-A915-254D-2EE7-06D6F56D6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17113" y="3032728"/>
              <a:ext cx="1440000" cy="144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1C6E9B-7F6A-EC8A-5354-6A8D6333A639}"/>
                </a:ext>
              </a:extLst>
            </p:cNvPr>
            <p:cNvSpPr txBox="1"/>
            <p:nvPr/>
          </p:nvSpPr>
          <p:spPr>
            <a:xfrm>
              <a:off x="8128249" y="4466985"/>
              <a:ext cx="162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Sandals (3.84)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24502F7-5E14-85B2-E6D4-9953B0DFD0A3}"/>
              </a:ext>
            </a:extLst>
          </p:cNvPr>
          <p:cNvGrpSpPr/>
          <p:nvPr/>
        </p:nvGrpSpPr>
        <p:grpSpPr>
          <a:xfrm>
            <a:off x="10080809" y="2693520"/>
            <a:ext cx="1620000" cy="1801046"/>
            <a:chOff x="10080809" y="3032728"/>
            <a:chExt cx="1620000" cy="180104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CAC212B-6739-E492-FF85-77E3E637C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70808" y="3032728"/>
              <a:ext cx="1440000" cy="144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41830F9-3C4F-82F0-E012-ADFC22B8199C}"/>
                </a:ext>
              </a:extLst>
            </p:cNvPr>
            <p:cNvSpPr txBox="1"/>
            <p:nvPr/>
          </p:nvSpPr>
          <p:spPr>
            <a:xfrm>
              <a:off x="10080809" y="4464442"/>
              <a:ext cx="162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Boots (3.82)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8C15E58-CC96-72FA-AE5C-058223578739}"/>
              </a:ext>
            </a:extLst>
          </p:cNvPr>
          <p:cNvGrpSpPr/>
          <p:nvPr/>
        </p:nvGrpSpPr>
        <p:grpSpPr>
          <a:xfrm>
            <a:off x="9186095" y="4668236"/>
            <a:ext cx="1620000" cy="1800511"/>
            <a:chOff x="9186095" y="4859960"/>
            <a:chExt cx="1620000" cy="180051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5BD01E4-C0B0-FDA9-E65D-9D88829C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76095" y="4859960"/>
              <a:ext cx="1440000" cy="144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691CF0B-07D5-C6BA-CDD6-23AEB2BCC5ED}"/>
                </a:ext>
              </a:extLst>
            </p:cNvPr>
            <p:cNvSpPr txBox="1"/>
            <p:nvPr/>
          </p:nvSpPr>
          <p:spPr>
            <a:xfrm>
              <a:off x="9186095" y="6291139"/>
              <a:ext cx="162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Skirts (3.76)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1EF924-1CF9-C5E9-1A20-A684612D7A70}"/>
              </a:ext>
            </a:extLst>
          </p:cNvPr>
          <p:cNvGrpSpPr/>
          <p:nvPr/>
        </p:nvGrpSpPr>
        <p:grpSpPr>
          <a:xfrm>
            <a:off x="7152340" y="4668236"/>
            <a:ext cx="1620000" cy="1809332"/>
            <a:chOff x="7152340" y="4859960"/>
            <a:chExt cx="1620000" cy="180933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3E4B870-E80A-4A4A-080E-728CC5901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42340" y="4859960"/>
              <a:ext cx="1440000" cy="144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1ED92C6-66B6-DD8F-2B20-E04BEBC4F037}"/>
                </a:ext>
              </a:extLst>
            </p:cNvPr>
            <p:cNvSpPr txBox="1"/>
            <p:nvPr/>
          </p:nvSpPr>
          <p:spPr>
            <a:xfrm>
              <a:off x="7152340" y="6299960"/>
              <a:ext cx="162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Hats (3.80)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4101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CB645E-3A3F-2A36-898D-F5C3D504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 dirty="0">
                <a:latin typeface="+mn-lt"/>
              </a:rPr>
              <a:t>Standard shipping customers have lowest average purchases but highest satisfaction.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F6B6B6-4DFB-1DE3-6ED9-6421D8A781D9}"/>
              </a:ext>
            </a:extLst>
          </p:cNvPr>
          <p:cNvSpPr txBox="1"/>
          <p:nvPr/>
        </p:nvSpPr>
        <p:spPr>
          <a:xfrm>
            <a:off x="5133146" y="3137999"/>
            <a:ext cx="5520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Average purchase amount by customer using standard shipping.</a:t>
            </a:r>
          </a:p>
          <a:p>
            <a:pPr algn="ctr"/>
            <a:r>
              <a:rPr lang="en-US" i="1" dirty="0"/>
              <a:t>(Overall average </a:t>
            </a:r>
            <a:r>
              <a:rPr lang="en-US" b="1" i="1" dirty="0"/>
              <a:t>$59.76</a:t>
            </a:r>
            <a:r>
              <a:rPr lang="en-US" i="1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641A6-AD2F-6DC3-36D6-6968024AFFCD}"/>
              </a:ext>
            </a:extLst>
          </p:cNvPr>
          <p:cNvSpPr txBox="1"/>
          <p:nvPr/>
        </p:nvSpPr>
        <p:spPr>
          <a:xfrm>
            <a:off x="5133147" y="5482011"/>
            <a:ext cx="5520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Average review rating by customer using standard shipping</a:t>
            </a:r>
          </a:p>
          <a:p>
            <a:pPr algn="ctr"/>
            <a:r>
              <a:rPr lang="en-US" i="1" dirty="0"/>
              <a:t>(Overall average </a:t>
            </a:r>
            <a:r>
              <a:rPr lang="en-US" b="1" i="1" dirty="0"/>
              <a:t>3.75</a:t>
            </a:r>
            <a:r>
              <a:rPr lang="en-US" i="1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25714E-A670-4AF4-3FDE-1542DCC328FE}"/>
              </a:ext>
            </a:extLst>
          </p:cNvPr>
          <p:cNvSpPr txBox="1"/>
          <p:nvPr/>
        </p:nvSpPr>
        <p:spPr>
          <a:xfrm>
            <a:off x="5133146" y="1951672"/>
            <a:ext cx="55201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$58.46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3BB87A-0B6A-D471-25BB-2258426B3A8D}"/>
              </a:ext>
            </a:extLst>
          </p:cNvPr>
          <p:cNvSpPr txBox="1"/>
          <p:nvPr/>
        </p:nvSpPr>
        <p:spPr>
          <a:xfrm>
            <a:off x="5133146" y="4358626"/>
            <a:ext cx="55201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3.82/5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1461B0-03D7-762E-A207-2992286D3D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5893" y="2132235"/>
            <a:ext cx="3996107" cy="39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6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608B-E3D6-B1B4-DDB3-8E56FB63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59154"/>
            <a:ext cx="11029616" cy="98833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atin typeface="+mn-lt"/>
              </a:rPr>
              <a:t>Average spend of subscribers and non-subscribers nearly equal and cumulative spend of non-subscribers higher. Most customers not subscribed.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AA3DF10-8D73-1847-A983-C5C0DA06B9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280864"/>
              </p:ext>
            </p:extLst>
          </p:nvPr>
        </p:nvGraphicFramePr>
        <p:xfrm>
          <a:off x="1188720" y="2148840"/>
          <a:ext cx="3497580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25E50BB-C9B4-DB30-E955-E4357105D6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0279727"/>
              </p:ext>
            </p:extLst>
          </p:nvPr>
        </p:nvGraphicFramePr>
        <p:xfrm>
          <a:off x="4686300" y="2148840"/>
          <a:ext cx="3497580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3C8AFC58-BA08-7D07-67CF-72C64961CC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3016982"/>
              </p:ext>
            </p:extLst>
          </p:nvPr>
        </p:nvGraphicFramePr>
        <p:xfrm>
          <a:off x="8183880" y="2148840"/>
          <a:ext cx="3421630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84592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DC6B-BCA5-9291-1EEE-16369B05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 dirty="0">
                <a:latin typeface="+mn-lt"/>
              </a:rPr>
              <a:t>Loyal customers the largest customer base, but most customers with previous purchases are not subscribed.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733E3-4C14-B0BA-B50D-6A3140822E84}"/>
              </a:ext>
            </a:extLst>
          </p:cNvPr>
          <p:cNvSpPr txBox="1"/>
          <p:nvPr/>
        </p:nvSpPr>
        <p:spPr>
          <a:xfrm>
            <a:off x="406400" y="2507906"/>
            <a:ext cx="5400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80%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B0C52-5BD7-7189-E31D-85AD8F94A3DF}"/>
              </a:ext>
            </a:extLst>
          </p:cNvPr>
          <p:cNvSpPr txBox="1"/>
          <p:nvPr/>
        </p:nvSpPr>
        <p:spPr>
          <a:xfrm>
            <a:off x="406400" y="3954456"/>
            <a:ext cx="54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Customer base that can be classified as “loyal” (n=3,116). These customers have </a:t>
            </a:r>
            <a:r>
              <a:rPr lang="en-US" b="1" i="1" dirty="0"/>
              <a:t>more than 10 previous purchases</a:t>
            </a:r>
            <a:r>
              <a:rPr lang="en-US" i="1" dirty="0"/>
              <a:t>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0C2C35F-DD1E-D1E4-7BC8-C33058CAB5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543763"/>
              </p:ext>
            </p:extLst>
          </p:nvPr>
        </p:nvGraphicFramePr>
        <p:xfrm>
          <a:off x="6274052" y="2078920"/>
          <a:ext cx="5331458" cy="4397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188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E623-A4A2-AB1A-80DA-E21EBBEC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+mn-lt"/>
              </a:rPr>
              <a:t>Recommendations.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239EC-857A-013C-A586-4DE06F56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Investigate the gender subscription gap.</a:t>
            </a:r>
            <a:r>
              <a:rPr lang="en-US" dirty="0"/>
              <a:t> </a:t>
            </a:r>
            <a:r>
              <a:rPr lang="en-US" i="1" dirty="0"/>
              <a:t>Identify why no female customers have subscribed by examining subscription offers, purchasing patterns, and potential barriers to enrollment. Test targeted subscription campaigns for female customers before rollout.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Improve subscription value.</a:t>
            </a:r>
            <a:r>
              <a:rPr lang="en-US" dirty="0"/>
              <a:t> </a:t>
            </a:r>
            <a:r>
              <a:rPr lang="en-US" i="1" dirty="0"/>
              <a:t>On average subscribers spend slightly less per purchase than non-subscribers. Review subscription benefits, pricing, and usage to identify improvements that could increase spending and justify the cost of the program.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Prioritize customer retention and repeat purchases.</a:t>
            </a:r>
            <a:r>
              <a:rPr lang="en-US" dirty="0"/>
              <a:t> </a:t>
            </a:r>
            <a:r>
              <a:rPr lang="en-US" i="1" dirty="0"/>
              <a:t>With 80% of customers classified as loyal, introduce targeted retention incentives, personalized offers, and cross-selling campaigns to increase purchase frequency and average transaction value.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Investigate customer satisfaction and product quality.</a:t>
            </a:r>
            <a:r>
              <a:rPr lang="en-US" dirty="0"/>
              <a:t> </a:t>
            </a:r>
            <a:r>
              <a:rPr lang="en-US" i="1" dirty="0"/>
              <a:t>Examine product-level reviews, returns, and complaints to identify underperforming products and prioritize improvements that address recurring customer concerns and low ratings.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Evaluate the profitability of shipping options.</a:t>
            </a:r>
            <a:r>
              <a:rPr lang="en-US" dirty="0"/>
              <a:t> </a:t>
            </a:r>
            <a:r>
              <a:rPr lang="en-US" i="1" dirty="0"/>
              <a:t>Assess shipping costs, delivery satisfaction, and customer lifetime value before changing shipping prices or promoting premium delivery.</a:t>
            </a:r>
          </a:p>
          <a:p>
            <a:pPr marL="342900" indent="-342900">
              <a:buFont typeface="+mj-lt"/>
              <a:buAutoNum type="arabicPeriod"/>
            </a:pPr>
            <a:endParaRPr lang="en-US" i="1" dirty="0"/>
          </a:p>
          <a:p>
            <a:pPr marL="342900" indent="-342900">
              <a:buFont typeface="+mj-lt"/>
              <a:buAutoNum type="arabicPeriod"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23851441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660</TotalTime>
  <Words>427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Felix Titling</vt:lpstr>
      <vt:lpstr>Goudy Old Style</vt:lpstr>
      <vt:lpstr>Archway</vt:lpstr>
      <vt:lpstr>Customer Shopping Behavior Analysis</vt:lpstr>
      <vt:lpstr>Overview.</vt:lpstr>
      <vt:lpstr>Male customers generate more revenue. There are no female subscribers.</vt:lpstr>
      <vt:lpstr>Product offerings have relatively low ratings.</vt:lpstr>
      <vt:lpstr>Standard shipping customers have lowest average purchases but highest satisfaction.</vt:lpstr>
      <vt:lpstr>Average spend of subscribers and non-subscribers nearly equal and cumulative spend of non-subscribers higher. Most customers not subscribed.</vt:lpstr>
      <vt:lpstr>Loyal customers the largest customer base, but most customers with previous purchases are not subscribed.</vt:lpstr>
      <vt:lpstr>Recommendations.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Brett Mwirigi</dc:creator>
  <cp:lastModifiedBy>Brett Mwirigi</cp:lastModifiedBy>
  <cp:revision>10</cp:revision>
  <dcterms:created xsi:type="dcterms:W3CDTF">2026-10-20T11:56:18Z</dcterms:created>
  <dcterms:modified xsi:type="dcterms:W3CDTF">2026-10-20T23:03:27Z</dcterms:modified>
</cp:coreProperties>
</file>